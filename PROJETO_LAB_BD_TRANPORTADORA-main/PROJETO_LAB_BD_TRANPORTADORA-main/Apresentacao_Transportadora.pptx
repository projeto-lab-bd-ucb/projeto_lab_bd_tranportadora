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66" r:id="rId17"/>
    <p:sldId id="259" r:id="rId10"/>
    <p:sldId id="260" r:id="rId11"/>
    <p:sldId id="267" r:id="rId18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  <Relationship Id="rId17" Type="http://schemas.openxmlformats.org/officeDocument/2006/relationships/slide" Target="slides/slide11.xml"/>
  <Relationship Id="rId18" Type="http://schemas.openxmlformats.org/officeDocument/2006/relationships/slide" Target="slides/slide12.xml"/>
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2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BED2E6"/>
                </a:solidFill>
                <a:latin typeface="Aptos"/>
              </a:defRPr>
            </a:pPr>
            <a:r>
              <a:t>UNIVERSIDADE CATÓLICA DE BRASÍLIA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886968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"/>
              </a:defRPr>
            </a:pPr>
            <a:r>
              <a:t>Sistema de Gestão de</a:t>
            </a:r>
            <a:br/>
            <a:r>
              <a:t>Transportadora,</a:t>
            </a:r>
            <a:br/>
            <a:r>
              <a:t>Rastreamento e Entregas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D6E0EC"/>
                </a:solidFill>
                <a:latin typeface="Aptos"/>
              </a:defRPr>
            </a:pPr>
            <a:r>
              <a:t>Laboratório de Banco de Dados  •  Projeto Final  •  Etapa 1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343400"/>
            <a:ext cx="1828800" cy="54864"/>
          </a:xfrm>
          <a:prstGeom prst="rect">
            <a:avLst/>
          </a:prstGeom>
          <a:solidFill>
            <a:srgbClr val="489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617720"/>
            <a:ext cx="53035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ptos"/>
              </a:defRPr>
            </a:pPr>
            <a:r>
              <a:t>Bruno Lucas Caixeta Braga</a:t>
            </a:r>
            <a:br/>
            <a:r>
              <a:t>Carlos Eduardo Estrela de Macedo</a:t>
            </a:r>
            <a:br/>
            <a:r>
              <a:t>Guilherme Alfeu Borges Carvalho Braga</a:t>
            </a:r>
            <a:br/>
            <a:r>
              <a:t>Ryan Gabriel Araújo Almeida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4709160"/>
            <a:ext cx="3931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0">
                <a:solidFill>
                  <a:srgbClr val="D6E0EC"/>
                </a:solidFill>
                <a:latin typeface="Aptos"/>
              </a:defRPr>
            </a:pPr>
            <a:r>
              <a:t>Professor: Samuel Novais Moura Júnior</a:t>
            </a:r>
            <a:br/>
            <a:r>
              <a:t>Taguatinga • 2026/2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75B91"/>
                </a:solidFill>
                <a:latin typeface="Aptos"/>
              </a:defRPr>
            </a:pPr>
            <a:r>
              <a:t>ETAPA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2235"/>
                </a:solidFill>
                <a:latin typeface="Aptos"/>
              </a:defRPr>
            </a:pPr>
            <a:r>
              <a:t>A1 — Escopo e regras de negócio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8748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19088"/>
            <a:ext cx="10881360" cy="9144"/>
          </a:xfrm>
          <a:prstGeom prst="rect">
            <a:avLst/>
          </a:prstGeom>
          <a:solidFill>
            <a:srgbClr val="D8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5394960" cy="95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142235"/>
                </a:solidFill>
                <a:latin typeface="Aptos"/>
              </a:defRPr>
            </a:pPr>
            <a:r>
              <a:t>Do cadastro da encomenda até a entrega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51952"/>
            <a:ext cx="5303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F3945"/>
                </a:solidFill>
                <a:latin typeface="Aptos"/>
              </a:defRPr>
            </a:pPr>
            <a:r>
              <a:t>A base de dados foi definida para representar o fluxo operacional de uma transportadora, contemplando cadastro, rastreamento, expedição, transporte e entrega.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298448"/>
            <a:ext cx="2423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298448"/>
            <a:ext cx="64008" cy="1417320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463039"/>
            <a:ext cx="20116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42235"/>
                </a:solidFill>
                <a:latin typeface="Aptos"/>
              </a:defRPr>
            </a:pPr>
            <a:r>
              <a:t>CLIENTES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1865376"/>
            <a:ext cx="2011679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F3945"/>
                </a:solidFill>
                <a:latin typeface="Aptos"/>
              </a:defRPr>
            </a:pPr>
            <a:r>
              <a:t>PF e PJ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1298448"/>
            <a:ext cx="2423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052560" y="1298448"/>
            <a:ext cx="64008" cy="1417320"/>
          </a:xfrm>
          <a:prstGeom prst="rect">
            <a:avLst/>
          </a:prstGeom>
          <a:solidFill>
            <a:srgbClr val="489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81160" y="1463039"/>
            <a:ext cx="20116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42235"/>
                </a:solidFill>
                <a:latin typeface="Aptos"/>
              </a:defRPr>
            </a:pPr>
            <a:r>
              <a:t>ENCOMENDAS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60" y="1865376"/>
            <a:ext cx="2011679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F3945"/>
                </a:solidFill>
                <a:latin typeface="Aptos"/>
              </a:defRPr>
            </a:pPr>
            <a:r>
              <a:t>Volumes e histórico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971800"/>
            <a:ext cx="2423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2971800"/>
            <a:ext cx="64008" cy="1417320"/>
          </a:xfrm>
          <a:prstGeom prst="rect">
            <a:avLst/>
          </a:prstGeom>
          <a:solidFill>
            <a:srgbClr val="3E8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3136392"/>
            <a:ext cx="20116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42235"/>
                </a:solidFill>
                <a:latin typeface="Aptos"/>
              </a:defRPr>
            </a:pPr>
            <a:r>
              <a:t>OPERAÇÃO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3538728"/>
            <a:ext cx="2011679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F3945"/>
                </a:solidFill>
                <a:latin typeface="Aptos"/>
              </a:defRPr>
            </a:pPr>
            <a:r>
              <a:t>Rotas e expedições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2971800"/>
            <a:ext cx="2423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52560" y="2971800"/>
            <a:ext cx="64008" cy="1417320"/>
          </a:xfrm>
          <a:prstGeom prst="rect">
            <a:avLst/>
          </a:prstGeom>
          <a:solidFill>
            <a:srgbClr val="C2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81160" y="3136392"/>
            <a:ext cx="20116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42235"/>
                </a:solidFill>
                <a:latin typeface="Aptos"/>
              </a:defRPr>
            </a:pPr>
            <a:r>
              <a:t>ENTREGA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3538728"/>
            <a:ext cx="2011679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F3945"/>
                </a:solidFill>
                <a:latin typeface="Aptos"/>
              </a:defRPr>
            </a:pPr>
            <a:r>
              <a:t>Tentativas e ocorrências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794760"/>
            <a:ext cx="5303520" cy="164592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050791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42235"/>
                </a:solidFill>
                <a:latin typeface="Aptos"/>
              </a:defRPr>
            </a:pPr>
            <a:r>
              <a:t>35 regras de negócio (RN01–RN35)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553712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F3945"/>
                </a:solidFill>
                <a:latin typeface="Aptos"/>
              </a:defRPr>
            </a:pPr>
            <a:r>
              <a:t>21 tabelas: 18 de domínio + 3 associativas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75B91"/>
                </a:solidFill>
                <a:latin typeface="Aptos"/>
              </a:defRPr>
            </a:pPr>
            <a:r>
              <a:t>MODELAGEM CONCEITUAL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2235"/>
                </a:solidFill>
                <a:latin typeface="Aptos"/>
              </a:defRPr>
            </a:pPr>
            <a:r>
              <a:t>A2 — Modelo Entidade-Relacionamento (MER)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8748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19088"/>
            <a:ext cx="10881360" cy="9144"/>
          </a:xfrm>
          <a:prstGeom prst="rect">
            <a:avLst/>
          </a:prstGeom>
          <a:solidFill>
            <a:srgbClr val="D8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75B91"/>
                </a:solidFill>
                <a:latin typeface="Aptos"/>
              </a:defRPr>
            </a:pPr>
            <a:r>
              <a:t>Principais estruturas do modelo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1828800" cy="822960"/>
          </a:xfrm>
          <a:prstGeom prst="roundRect">
            <a:avLst/>
          </a:prstGeom>
          <a:solidFill>
            <a:srgbClr val="E8EFF7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1828800" cy="73152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93392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42235"/>
                </a:solidFill>
                <a:latin typeface="Aptos"/>
              </a:defRPr>
            </a:pPr>
            <a:r>
              <a:t>CLIENTE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33172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87482"/>
                </a:solidFill>
                <a:latin typeface="Aptos"/>
              </a:defRPr>
            </a:pPr>
            <a:r>
              <a:t>especialização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3063240"/>
            <a:ext cx="18288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3063240"/>
            <a:ext cx="1828800" cy="73152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3227832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42235"/>
                </a:solidFill>
                <a:latin typeface="Aptos"/>
              </a:defRPr>
            </a:pPr>
            <a:r>
              <a:t>CLIENTE_PF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31720" y="3063240"/>
            <a:ext cx="18288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31720" y="3063240"/>
            <a:ext cx="1828800" cy="73152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23160" y="3227832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42235"/>
                </a:solidFill>
                <a:latin typeface="Aptos"/>
              </a:defRPr>
            </a:pPr>
            <a:r>
              <a:t>CLIENTE_PJ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1234440" y="2651760"/>
            <a:ext cx="411480" cy="411480"/>
          </a:xfrm>
          <a:prstGeom prst="line">
            <a:avLst/>
          </a:prstGeom>
          <a:ln w="25400">
            <a:solidFill>
              <a:srgbClr val="27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645920" y="2651760"/>
            <a:ext cx="1600200" cy="411480"/>
          </a:xfrm>
          <a:prstGeom prst="line">
            <a:avLst/>
          </a:prstGeom>
          <a:ln w="25400">
            <a:solidFill>
              <a:srgbClr val="27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617720" y="1828800"/>
            <a:ext cx="1965960" cy="822960"/>
          </a:xfrm>
          <a:prstGeom prst="roundRect">
            <a:avLst/>
          </a:prstGeom>
          <a:solidFill>
            <a:srgbClr val="E8EFF7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17720" y="1828800"/>
            <a:ext cx="1965960" cy="73152"/>
          </a:xfrm>
          <a:prstGeom prst="rect">
            <a:avLst/>
          </a:prstGeom>
          <a:solidFill>
            <a:srgbClr val="489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09159" y="1993392"/>
            <a:ext cx="1783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42235"/>
                </a:solidFill>
                <a:latin typeface="Aptos"/>
              </a:defRPr>
            </a:pPr>
            <a:r>
              <a:t>FUNCIONÁRIO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59" y="2331720"/>
            <a:ext cx="1783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87482"/>
                </a:solidFill>
                <a:latin typeface="Aptos"/>
              </a:defRPr>
            </a:pPr>
            <a:r>
              <a:t>especialização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60520" y="3063240"/>
            <a:ext cx="18288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60520" y="3063240"/>
            <a:ext cx="1828800" cy="73152"/>
          </a:xfrm>
          <a:prstGeom prst="rect">
            <a:avLst/>
          </a:prstGeom>
          <a:solidFill>
            <a:srgbClr val="489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51959" y="3227832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42235"/>
                </a:solidFill>
                <a:latin typeface="Aptos"/>
              </a:defRPr>
            </a:pPr>
            <a:r>
              <a:t>MOTORISTA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063240"/>
            <a:ext cx="21031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200" y="3063240"/>
            <a:ext cx="2103120" cy="73152"/>
          </a:xfrm>
          <a:prstGeom prst="rect">
            <a:avLst/>
          </a:prstGeom>
          <a:solidFill>
            <a:srgbClr val="489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3227832"/>
            <a:ext cx="19202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42235"/>
                </a:solidFill>
                <a:latin typeface="Aptos"/>
              </a:defRPr>
            </a:pPr>
            <a:r>
              <a:t>OPERADOR LOG.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5074920" y="2651760"/>
            <a:ext cx="521208" cy="411480"/>
          </a:xfrm>
          <a:prstGeom prst="line">
            <a:avLst/>
          </a:prstGeom>
          <a:ln w="25400">
            <a:solidFill>
              <a:srgbClr val="27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96128" y="2651760"/>
            <a:ext cx="1627632" cy="411480"/>
          </a:xfrm>
          <a:prstGeom prst="line">
            <a:avLst/>
          </a:prstGeom>
          <a:ln w="25400">
            <a:solidFill>
              <a:srgbClr val="27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549640" y="1828800"/>
            <a:ext cx="2057400" cy="822960"/>
          </a:xfrm>
          <a:prstGeom prst="roundRect">
            <a:avLst/>
          </a:prstGeom>
          <a:solidFill>
            <a:srgbClr val="E8EFF7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549640" y="1828800"/>
            <a:ext cx="2057400" cy="73152"/>
          </a:xfrm>
          <a:prstGeom prst="rect">
            <a:avLst/>
          </a:prstGeom>
          <a:solidFill>
            <a:srgbClr val="3E8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41080" y="1993392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42235"/>
                </a:solidFill>
                <a:latin typeface="Aptos"/>
              </a:defRPr>
            </a:pPr>
            <a:r>
              <a:t>ENCOMENDA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41080" y="2331720"/>
            <a:ext cx="187451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87482"/>
                </a:solidFill>
                <a:latin typeface="Aptos"/>
              </a:defRPr>
            </a:pPr>
            <a:r>
              <a:t>entidade forte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49640" y="3063240"/>
            <a:ext cx="20574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549640" y="3063240"/>
            <a:ext cx="2057400" cy="73152"/>
          </a:xfrm>
          <a:prstGeom prst="rect">
            <a:avLst/>
          </a:prstGeom>
          <a:solidFill>
            <a:srgbClr val="3E8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41080" y="3227832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42235"/>
                </a:solidFill>
                <a:latin typeface="Aptos"/>
              </a:defRPr>
            </a:pPr>
            <a:r>
              <a:t>VOLUME_ENCOM.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41080" y="3566160"/>
            <a:ext cx="187451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87482"/>
                </a:solidFill>
                <a:latin typeface="Aptos"/>
              </a:defRPr>
            </a:pPr>
            <a:r>
              <a:t>entidade fraca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582912" y="2651760"/>
            <a:ext cx="0" cy="411480"/>
          </a:xfrm>
          <a:prstGeom prst="line">
            <a:avLst/>
          </a:prstGeom>
          <a:ln w="25400">
            <a:solidFill>
              <a:srgbClr val="27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914400" y="4572000"/>
            <a:ext cx="20574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14400" y="4572000"/>
            <a:ext cx="2057400" cy="73152"/>
          </a:xfrm>
          <a:prstGeom prst="rect">
            <a:avLst/>
          </a:prstGeom>
          <a:solidFill>
            <a:srgbClr val="C2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5840" y="4736592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42235"/>
                </a:solidFill>
                <a:latin typeface="Aptos"/>
              </a:defRPr>
            </a:pPr>
            <a:r>
              <a:t>ROTA — CIDADE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" y="5074920"/>
            <a:ext cx="1874519" cy="182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87482"/>
                </a:solidFill>
                <a:latin typeface="Aptos"/>
              </a:defRPr>
            </a:pPr>
            <a:r>
              <a:t>N:N • ordem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703320" y="4572000"/>
            <a:ext cx="22402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703320" y="4572000"/>
            <a:ext cx="2240280" cy="73152"/>
          </a:xfrm>
          <a:prstGeom prst="rect">
            <a:avLst/>
          </a:prstGeom>
          <a:solidFill>
            <a:srgbClr val="C2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794759" y="4736592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42235"/>
                </a:solidFill>
                <a:latin typeface="Aptos"/>
              </a:defRPr>
            </a:pPr>
            <a:r>
              <a:t>EXPEDIÇÃO — ENCOM.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94759" y="5074920"/>
            <a:ext cx="2057400" cy="182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87482"/>
                </a:solidFill>
                <a:latin typeface="Aptos"/>
              </a:defRPr>
            </a:pPr>
            <a:r>
              <a:t>N:N • ordem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675120" y="4572000"/>
            <a:ext cx="22402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675120" y="4572000"/>
            <a:ext cx="2240280" cy="73152"/>
          </a:xfrm>
          <a:prstGeom prst="rect">
            <a:avLst/>
          </a:prstGeom>
          <a:solidFill>
            <a:srgbClr val="C2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766559" y="4736592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42235"/>
                </a:solidFill>
                <a:latin typeface="Aptos"/>
              </a:defRPr>
            </a:pPr>
            <a:r>
              <a:t>ENCOMENDA — SERVIÇO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66559" y="5074920"/>
            <a:ext cx="2057400" cy="182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87482"/>
                </a:solidFill>
                <a:latin typeface="Aptos"/>
              </a:defRPr>
            </a:pPr>
            <a:r>
              <a:t>N:N • valor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555480" y="4572000"/>
            <a:ext cx="17373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555480" y="4572000"/>
            <a:ext cx="1737360" cy="73152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46919" y="4736592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42235"/>
                </a:solidFill>
                <a:latin typeface="Aptos"/>
              </a:defRPr>
            </a:pPr>
            <a:r>
              <a:t>SUPERVISÃO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46919" y="5074920"/>
            <a:ext cx="1554480" cy="182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87482"/>
                </a:solidFill>
                <a:latin typeface="Aptos"/>
              </a:defRPr>
            </a:pPr>
            <a:r>
              <a:t>0,N ↔ 0,1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" y="5650992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687482"/>
                </a:solidFill>
                <a:latin typeface="Aptos"/>
              </a:defRPr>
            </a:pPr>
            <a:r>
              <a:t>Especializações totais e exclusivas • N:N com atributos próprios • auto-relacionamento de FUNCIONÁRIO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75B91"/>
                </a:solidFill>
                <a:latin typeface="Aptos"/>
              </a:defRPr>
            </a:pPr>
            <a:r>
              <a:t>DETALHAMENTO CONCEITUAL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2235"/>
                </a:solidFill>
                <a:latin typeface="Aptos"/>
              </a:defRPr>
            </a:pPr>
            <a:r>
              <a:t>A3 — Dicionário de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87482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19088"/>
            <a:ext cx="10881360" cy="9144"/>
          </a:xfrm>
          <a:prstGeom prst="rect">
            <a:avLst/>
          </a:prstGeom>
          <a:solidFill>
            <a:srgbClr val="D8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75B91"/>
                </a:solidFill>
                <a:latin typeface="Aptos"/>
              </a:defRPr>
            </a:pPr>
            <a:r>
              <a:t>Exemplo: entidade ENCOMENDA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2377440" cy="502920"/>
          </a:xfrm>
          <a:prstGeom prst="rect">
            <a:avLst/>
          </a:prstGeom>
          <a:solidFill>
            <a:srgbClr val="14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19" y="1810512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Atributo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1691640"/>
            <a:ext cx="1920240" cy="502920"/>
          </a:xfrm>
          <a:prstGeom prst="rect">
            <a:avLst/>
          </a:prstGeom>
          <a:solidFill>
            <a:srgbClr val="14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60" y="1810512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Obrigatório?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37760" y="1691640"/>
            <a:ext cx="2834640" cy="502920"/>
          </a:xfrm>
          <a:prstGeom prst="rect">
            <a:avLst/>
          </a:prstGeom>
          <a:solidFill>
            <a:srgbClr val="14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1810512"/>
            <a:ext cx="2651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Regra / domínio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1691640"/>
            <a:ext cx="3657600" cy="502920"/>
          </a:xfrm>
          <a:prstGeom prst="rect">
            <a:avLst/>
          </a:prstGeom>
          <a:solidFill>
            <a:srgbClr val="14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1810512"/>
            <a:ext cx="3474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Observação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194560"/>
            <a:ext cx="23774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19" y="2304288"/>
            <a:ext cx="2194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2F3945"/>
                </a:solidFill>
                <a:latin typeface="Aptos"/>
              </a:defRPr>
            </a:pPr>
            <a:r>
              <a:t>codigo_rastreio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17520" y="2194560"/>
            <a:ext cx="19202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08960" y="2304288"/>
            <a:ext cx="1737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F3945"/>
                </a:solidFill>
                <a:latin typeface="Aptos"/>
              </a:defRPr>
            </a:pPr>
            <a:r>
              <a:t>Sim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37760" y="2194560"/>
            <a:ext cx="28346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0" y="2304288"/>
            <a:ext cx="2651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F3945"/>
                </a:solidFill>
                <a:latin typeface="Aptos"/>
              </a:defRPr>
            </a:pPr>
            <a:r>
              <a:t>Alfanumérico + único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0" y="2194560"/>
            <a:ext cx="36576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0" y="2304288"/>
            <a:ext cx="3474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F3945"/>
                </a:solidFill>
                <a:latin typeface="Aptos"/>
              </a:defRPr>
            </a:pPr>
            <a:r>
              <a:t>Identifica a encomenda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2852928"/>
            <a:ext cx="23774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19" y="2962656"/>
            <a:ext cx="2194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2F3945"/>
                </a:solidFill>
                <a:latin typeface="Aptos"/>
              </a:defRPr>
            </a:pPr>
            <a:r>
              <a:t>valor_declarado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2852928"/>
            <a:ext cx="19202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08960" y="2962656"/>
            <a:ext cx="1737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F3945"/>
                </a:solidFill>
                <a:latin typeface="Aptos"/>
              </a:defRPr>
            </a:pPr>
            <a:r>
              <a:t>Não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37760" y="2852928"/>
            <a:ext cx="28346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0" y="2962656"/>
            <a:ext cx="2651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F3945"/>
                </a:solidFill>
                <a:latin typeface="Aptos"/>
              </a:defRPr>
            </a:pPr>
            <a:r>
              <a:t>Monetário ≥ 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0" y="2852928"/>
            <a:ext cx="36576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0" y="2962656"/>
            <a:ext cx="3474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F3945"/>
                </a:solidFill>
                <a:latin typeface="Aptos"/>
              </a:defRPr>
            </a:pPr>
            <a:r>
              <a:t>Valor declarado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3511296"/>
            <a:ext cx="23774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19" y="3621024"/>
            <a:ext cx="2194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2F3945"/>
                </a:solidFill>
                <a:latin typeface="Aptos"/>
              </a:defRPr>
            </a:pPr>
            <a:r>
              <a:t>status_atual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17520" y="3511296"/>
            <a:ext cx="19202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08960" y="3621024"/>
            <a:ext cx="1737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F3945"/>
                </a:solidFill>
                <a:latin typeface="Aptos"/>
              </a:defRPr>
            </a:pPr>
            <a:r>
              <a:t>Derivado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37760" y="3511296"/>
            <a:ext cx="28346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0" y="3621024"/>
            <a:ext cx="2651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F3945"/>
                </a:solidFill>
                <a:latin typeface="Aptos"/>
              </a:defRPr>
            </a:pPr>
            <a:r>
              <a:t>9 status fechados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72400" y="3511296"/>
            <a:ext cx="36576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0" y="3621024"/>
            <a:ext cx="3474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F3945"/>
                </a:solidFill>
                <a:latin typeface="Aptos"/>
              </a:defRPr>
            </a:pPr>
            <a:r>
              <a:t>Calculado pelo último histórico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406908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0080" y="4069080"/>
            <a:ext cx="64008" cy="1234440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8680" y="423367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42235"/>
                </a:solidFill>
                <a:latin typeface="Aptos"/>
              </a:defRPr>
            </a:pPr>
            <a:r>
              <a:t>DOMÍNIOS FECHADOS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" y="4636008"/>
            <a:ext cx="3017520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F3945"/>
                </a:solidFill>
                <a:latin typeface="Aptos"/>
              </a:defRPr>
            </a:pPr>
            <a:r>
              <a:t>Status da encomenda e expedição; situação de rota/veículo/ocorrência; tipo de ocorrência; turno do operador.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279392" y="406908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279392" y="4069080"/>
            <a:ext cx="64008" cy="1234440"/>
          </a:xfrm>
          <a:prstGeom prst="rect">
            <a:avLst/>
          </a:prstGeom>
          <a:solidFill>
            <a:srgbClr val="489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07992" y="423367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42235"/>
                </a:solidFill>
                <a:latin typeface="Aptos"/>
              </a:defRPr>
            </a:pPr>
            <a:r>
              <a:t>VALIDAÇÃO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07992" y="4636008"/>
            <a:ext cx="3017520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F3945"/>
                </a:solidFill>
                <a:latin typeface="Aptos"/>
              </a:defRPr>
            </a:pPr>
            <a:r>
              <a:t>Os domínios restritos são controlados por CHECK no script físico.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918704" y="406908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918704" y="4069080"/>
            <a:ext cx="64008" cy="1234440"/>
          </a:xfrm>
          <a:prstGeom prst="rect">
            <a:avLst/>
          </a:prstGeom>
          <a:solidFill>
            <a:srgbClr val="3E8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147304" y="423367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42235"/>
                </a:solidFill>
                <a:latin typeface="Aptos"/>
              </a:defRPr>
            </a:pPr>
            <a:r>
              <a:t>CONSISTÊNCIA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47304" y="4636008"/>
            <a:ext cx="3017520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F3945"/>
                </a:solidFill>
                <a:latin typeface="Aptos"/>
              </a:defRPr>
            </a:pPr>
            <a:r>
              <a:t>O dicionário define domínio, obrigatoriedade e regra por atributo.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75B91"/>
                </a:solidFill>
                <a:latin typeface="Aptos"/>
              </a:defRPr>
            </a:pPr>
            <a:r>
              <a:t>TRANSFORMAÇÃO PARA TABELAS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2235"/>
                </a:solidFill>
                <a:latin typeface="Aptos"/>
              </a:defRPr>
            </a:pPr>
            <a:r>
              <a:t>A4 — Modelo relacional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87482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19088"/>
            <a:ext cx="10881360" cy="9144"/>
          </a:xfrm>
          <a:prstGeom prst="rect">
            <a:avLst/>
          </a:prstGeom>
          <a:solidFill>
            <a:srgbClr val="D8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75B91"/>
                </a:solidFill>
                <a:latin typeface="Aptos"/>
              </a:defRPr>
            </a:pPr>
            <a:r>
              <a:t>21 relações no modelo físico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2103120" cy="822960"/>
          </a:xfrm>
          <a:prstGeom prst="roundRect">
            <a:avLst/>
          </a:prstGeom>
          <a:solidFill>
            <a:srgbClr val="E8EFF7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2103120" cy="73152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93392"/>
            <a:ext cx="19202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42235"/>
                </a:solidFill>
                <a:latin typeface="Aptos"/>
              </a:defRPr>
            </a:pPr>
            <a:r>
              <a:t>CLIENTE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331720"/>
            <a:ext cx="192023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87482"/>
                </a:solidFill>
                <a:latin typeface="Aptos"/>
              </a:defRPr>
            </a:pPr>
            <a:r>
              <a:t>PK + especialização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63240" y="1828800"/>
            <a:ext cx="23317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063240" y="1828800"/>
            <a:ext cx="2331720" cy="73152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54680" y="1993392"/>
            <a:ext cx="21488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42235"/>
                </a:solidFill>
                <a:latin typeface="Aptos"/>
              </a:defRPr>
            </a:pPr>
            <a:r>
              <a:t>CLIENTE_PF / PJ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2331720"/>
            <a:ext cx="214883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87482"/>
                </a:solidFill>
                <a:latin typeface="Aptos"/>
              </a:defRPr>
            </a:pPr>
            <a:r>
              <a:t>FK para CLIENTE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0" y="1828800"/>
            <a:ext cx="2194560" cy="822960"/>
          </a:xfrm>
          <a:prstGeom prst="roundRect">
            <a:avLst/>
          </a:prstGeom>
          <a:solidFill>
            <a:srgbClr val="E8EFF7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0" y="1828800"/>
            <a:ext cx="2194560" cy="73152"/>
          </a:xfrm>
          <a:prstGeom prst="rect">
            <a:avLst/>
          </a:prstGeom>
          <a:solidFill>
            <a:srgbClr val="489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0" y="1993392"/>
            <a:ext cx="20116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42235"/>
                </a:solidFill>
                <a:latin typeface="Aptos"/>
              </a:defRPr>
            </a:pPr>
            <a:r>
              <a:t>FUNCIONÁRIO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2331720"/>
            <a:ext cx="201167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87482"/>
                </a:solidFill>
                <a:latin typeface="Aptos"/>
              </a:defRPr>
            </a:pPr>
            <a:r>
              <a:t>PK + especialização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1828800"/>
            <a:ext cx="25603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60" y="1828800"/>
            <a:ext cx="2560320" cy="73152"/>
          </a:xfrm>
          <a:prstGeom prst="rect">
            <a:avLst/>
          </a:prstGeom>
          <a:solidFill>
            <a:srgbClr val="489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1993392"/>
            <a:ext cx="23774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42235"/>
                </a:solidFill>
                <a:latin typeface="Aptos"/>
              </a:defRPr>
            </a:pPr>
            <a:r>
              <a:t>MOTORISTA / OPERADOR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331720"/>
            <a:ext cx="237743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87482"/>
                </a:solidFill>
                <a:latin typeface="Aptos"/>
              </a:defRPr>
            </a:pPr>
            <a:r>
              <a:t>FK para FUNCIONÁRIO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834640" y="2240280"/>
            <a:ext cx="228600" cy="0"/>
          </a:xfrm>
          <a:prstGeom prst="line">
            <a:avLst/>
          </a:prstGeom>
          <a:ln w="25400">
            <a:solidFill>
              <a:srgbClr val="27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863840" y="2240280"/>
            <a:ext cx="274320" cy="0"/>
          </a:xfrm>
          <a:prstGeom prst="line">
            <a:avLst/>
          </a:prstGeom>
          <a:ln w="25400">
            <a:solidFill>
              <a:srgbClr val="27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188720" y="3337560"/>
            <a:ext cx="23774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88720" y="3337560"/>
            <a:ext cx="2377440" cy="73152"/>
          </a:xfrm>
          <a:prstGeom prst="rect">
            <a:avLst/>
          </a:prstGeom>
          <a:solidFill>
            <a:srgbClr val="C2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80160" y="3502152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42235"/>
                </a:solidFill>
                <a:latin typeface="Aptos"/>
              </a:defRPr>
            </a:pPr>
            <a:r>
              <a:t>ROTA_CIDADE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3840480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87482"/>
                </a:solidFill>
                <a:latin typeface="Aptos"/>
              </a:defRPr>
            </a:pPr>
            <a:r>
              <a:t>PK composta + ordem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931920" y="3337560"/>
            <a:ext cx="25603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931920" y="3337560"/>
            <a:ext cx="2560320" cy="73152"/>
          </a:xfrm>
          <a:prstGeom prst="rect">
            <a:avLst/>
          </a:prstGeom>
          <a:solidFill>
            <a:srgbClr val="C2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23359" y="3502152"/>
            <a:ext cx="23774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42235"/>
                </a:solidFill>
                <a:latin typeface="Aptos"/>
              </a:defRPr>
            </a:pPr>
            <a:r>
              <a:t>EXPEDICAO_ENCOMENDA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23359" y="3840480"/>
            <a:ext cx="237743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87482"/>
                </a:solidFill>
                <a:latin typeface="Aptos"/>
              </a:defRPr>
            </a:pPr>
            <a:r>
              <a:t>PK composta + ordem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0" y="3337560"/>
            <a:ext cx="24688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858000" y="3337560"/>
            <a:ext cx="2468880" cy="73152"/>
          </a:xfrm>
          <a:prstGeom prst="rect">
            <a:avLst/>
          </a:prstGeom>
          <a:solidFill>
            <a:srgbClr val="C2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49440" y="3502152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42235"/>
                </a:solidFill>
                <a:latin typeface="Aptos"/>
              </a:defRPr>
            </a:pPr>
            <a:r>
              <a:t>ENCOMENDA_SERVICO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3840480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87482"/>
                </a:solidFill>
                <a:latin typeface="Aptos"/>
              </a:defRPr>
            </a:pPr>
            <a:r>
              <a:t>PK composta + valor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601200" y="3337560"/>
            <a:ext cx="1645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601200" y="3337560"/>
            <a:ext cx="1645920" cy="73152"/>
          </a:xfrm>
          <a:prstGeom prst="rect">
            <a:avLst/>
          </a:prstGeom>
          <a:solidFill>
            <a:srgbClr val="3E8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92640" y="3502152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42235"/>
                </a:solidFill>
                <a:latin typeface="Aptos"/>
              </a:defRPr>
            </a:pPr>
            <a:r>
              <a:t>VOLUME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92640" y="3840480"/>
            <a:ext cx="1463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87482"/>
                </a:solidFill>
                <a:latin typeface="Aptos"/>
              </a:defRPr>
            </a:pPr>
            <a:r>
              <a:t>PK composta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" y="4434840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42235"/>
                </a:solidFill>
                <a:latin typeface="Aptos"/>
              </a:defRPr>
            </a:pPr>
            <a:r>
              <a:t>N:N → tabelas associativas com chaves compostas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60720" y="4407408"/>
            <a:ext cx="5212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42235"/>
                </a:solidFill>
                <a:latin typeface="Aptos"/>
              </a:defRPr>
            </a:pPr>
            <a:r>
              <a:t>status_atual → não é coluna: será uma VIEW baseada no último histórico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" y="5166360"/>
            <a:ext cx="10881360" cy="68580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8680" y="5358384"/>
            <a:ext cx="103784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0">
                <a:solidFill>
                  <a:srgbClr val="2F3945"/>
                </a:solidFill>
                <a:latin typeface="Aptos"/>
              </a:defRPr>
            </a:pPr>
            <a:r>
              <a:t>Especialização em 3 tabelas • chaves substitutas na maioria das relações • chaves naturais compostas em associativas e VOLUME_ENCOMENDA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75B91"/>
                </a:solidFill>
                <a:latin typeface="Aptos"/>
              </a:defRPr>
            </a:pPr>
            <a:r>
              <a:t>QUALIDADE ESTRUTURAL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2235"/>
                </a:solidFill>
                <a:latin typeface="Aptos"/>
              </a:defRPr>
            </a:pPr>
            <a:r>
              <a:t>A5 — Normalização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87482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19088"/>
            <a:ext cx="10881360" cy="9144"/>
          </a:xfrm>
          <a:prstGeom prst="rect">
            <a:avLst/>
          </a:prstGeom>
          <a:solidFill>
            <a:srgbClr val="D8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7772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42235"/>
                </a:solidFill>
                <a:latin typeface="Aptos"/>
              </a:defRPr>
            </a:pPr>
            <a:r>
              <a:t>Todas as 21 relações atendem 1FN, 2FN, 3FN e BCNF.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57400"/>
            <a:ext cx="2331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67712"/>
            <a:ext cx="2057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900" b="1">
                <a:solidFill>
                  <a:srgbClr val="275B91"/>
                </a:solidFill>
                <a:latin typeface="Aptos"/>
              </a:defRPr>
            </a:pPr>
            <a:r>
              <a:t>1FN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69748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687482"/>
                </a:solidFill>
                <a:latin typeface="Aptos"/>
              </a:defRPr>
            </a:pPr>
            <a:r>
              <a:t>Atributos atômicos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90672" y="2441448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68748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2057400"/>
            <a:ext cx="2331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79" y="2267712"/>
            <a:ext cx="2057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900" b="1">
                <a:solidFill>
                  <a:srgbClr val="275B91"/>
                </a:solidFill>
                <a:latin typeface="Aptos"/>
              </a:defRPr>
            </a:pPr>
            <a:r>
              <a:t>2FN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269748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687482"/>
                </a:solidFill>
                <a:latin typeface="Aptos"/>
              </a:defRPr>
            </a:pPr>
            <a:r>
              <a:t>Dependência da chave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33872" y="2441448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68748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057400"/>
            <a:ext cx="2331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2267712"/>
            <a:ext cx="2057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900" b="1">
                <a:solidFill>
                  <a:srgbClr val="275B91"/>
                </a:solidFill>
                <a:latin typeface="Aptos"/>
              </a:defRPr>
            </a:pPr>
            <a:r>
              <a:t>3FN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269748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687482"/>
                </a:solidFill>
                <a:latin typeface="Aptos"/>
              </a:defRPr>
            </a:pPr>
            <a:r>
              <a:t>Sem dependência transitiva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77072" y="2441448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68748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0" y="2057400"/>
            <a:ext cx="2331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98280" y="2267712"/>
            <a:ext cx="2057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900" b="1">
                <a:solidFill>
                  <a:srgbClr val="275B91"/>
                </a:solidFill>
                <a:latin typeface="Aptos"/>
              </a:defRPr>
            </a:pPr>
            <a:r>
              <a:t>BCNF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25712" y="269748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687482"/>
                </a:solidFill>
                <a:latin typeface="Aptos"/>
              </a:defRPr>
            </a:pPr>
            <a:r>
              <a:t>Determinantes adequados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70332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3703320"/>
            <a:ext cx="64008" cy="1417320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3867911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42235"/>
                </a:solidFill>
                <a:latin typeface="Aptos"/>
              </a:defRPr>
            </a:pPr>
            <a:r>
              <a:t>REDUNDÂNCIA EVITADA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270248"/>
            <a:ext cx="3017520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F3945"/>
                </a:solidFill>
                <a:latin typeface="Aptos"/>
              </a:defRPr>
            </a:pPr>
            <a:r>
              <a:t>Cidade não é repetida em ENDEREÇO ou CENTRO_DISTRIBUICAO; status_atual não vira coluna.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70832" y="370332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70832" y="3703320"/>
            <a:ext cx="64008" cy="1417320"/>
          </a:xfrm>
          <a:prstGeom prst="rect">
            <a:avLst/>
          </a:prstGeom>
          <a:solidFill>
            <a:srgbClr val="489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99432" y="3867911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42235"/>
                </a:solidFill>
                <a:latin typeface="Aptos"/>
              </a:defRPr>
            </a:pPr>
            <a:r>
              <a:t>VALORES PRESERVADOS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9432" y="4270248"/>
            <a:ext cx="3017520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F3945"/>
                </a:solidFill>
                <a:latin typeface="Aptos"/>
              </a:defRPr>
            </a:pPr>
            <a:r>
              <a:t>valor_contratado permanece separado de valor_referencia.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10144" y="370332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10144" y="3703320"/>
            <a:ext cx="64008" cy="1417320"/>
          </a:xfrm>
          <a:prstGeom prst="rect">
            <a:avLst/>
          </a:prstGeom>
          <a:solidFill>
            <a:srgbClr val="C2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38744" y="3867911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42235"/>
                </a:solidFill>
                <a:latin typeface="Aptos"/>
              </a:defRPr>
            </a:pPr>
            <a:r>
              <a:t>REDUNDÂNCIA CONTROLADA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38744" y="4270248"/>
            <a:ext cx="3017520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F3945"/>
                </a:solidFill>
                <a:latin typeface="Aptos"/>
              </a:defRPr>
            </a:pPr>
            <a:r>
              <a:t>tipo_cliente e tipo_funcionario dependem apenas da própria chave; CHECK + trigger/validação reduzem divergências.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75B91"/>
                </a:solidFill>
                <a:latin typeface="Aptos"/>
              </a:defRPr>
            </a:pPr>
            <a:r>
              <a:t>ETAPA 1 • ENTREGA TÉCNICA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2235"/>
                </a:solidFill>
                <a:latin typeface="Aptos"/>
              </a:defRPr>
            </a:pPr>
            <a:r>
              <a:t>A6 → A8 — Implementação e validação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87482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19088"/>
            <a:ext cx="10881360" cy="9144"/>
          </a:xfrm>
          <a:prstGeom prst="rect">
            <a:avLst/>
          </a:prstGeom>
          <a:solidFill>
            <a:srgbClr val="D8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75B91"/>
                </a:solidFill>
                <a:latin typeface="Aptos"/>
              </a:defRPr>
            </a:pPr>
            <a:r>
              <a:t>Fluxo dos artefatos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011680"/>
            <a:ext cx="2743200" cy="1051560"/>
          </a:xfrm>
          <a:prstGeom prst="roundRect">
            <a:avLst/>
          </a:prstGeom>
          <a:solidFill>
            <a:srgbClr val="E8EFF7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011680"/>
            <a:ext cx="2743200" cy="73152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176272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42235"/>
                </a:solidFill>
                <a:latin typeface="Aptos"/>
              </a:defRPr>
            </a:pPr>
            <a:r>
              <a:t>A6 — 01_ddl.sql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14600"/>
            <a:ext cx="2560320" cy="4571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87482"/>
                </a:solidFill>
                <a:latin typeface="Aptos"/>
              </a:defRPr>
            </a:pPr>
            <a:r>
              <a:t>Banco físico • MySQL 8.0+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60" y="2011680"/>
            <a:ext cx="2743200" cy="1051560"/>
          </a:xfrm>
          <a:prstGeom prst="roundRect">
            <a:avLst/>
          </a:prstGeom>
          <a:solidFill>
            <a:srgbClr val="EBF5F7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09160" y="2011680"/>
            <a:ext cx="2743200" cy="73152"/>
          </a:xfrm>
          <a:prstGeom prst="rect">
            <a:avLst/>
          </a:prstGeom>
          <a:solidFill>
            <a:srgbClr val="489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2176272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42235"/>
                </a:solidFill>
                <a:latin typeface="Aptos"/>
              </a:defRPr>
            </a:pPr>
            <a:r>
              <a:t>A7 — 02_carga.sql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514600"/>
            <a:ext cx="2560320" cy="4571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87482"/>
                </a:solidFill>
                <a:latin typeface="Aptos"/>
              </a:defRPr>
            </a:pPr>
            <a:r>
              <a:t>Dados fictícios e casos de teste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95360" y="2011680"/>
            <a:ext cx="2743200" cy="1051560"/>
          </a:xfrm>
          <a:prstGeom prst="roundRect">
            <a:avLst/>
          </a:prstGeom>
          <a:solidFill>
            <a:srgbClr val="E8EFF7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95360" y="2011680"/>
            <a:ext cx="2743200" cy="73152"/>
          </a:xfrm>
          <a:prstGeom prst="rect">
            <a:avLst/>
          </a:prstGeom>
          <a:solidFill>
            <a:srgbClr val="3E8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0" y="2176272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42235"/>
                </a:solidFill>
                <a:latin typeface="Aptos"/>
              </a:defRPr>
            </a:pPr>
            <a:r>
              <a:t>A8 — 03_consultas.sql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514600"/>
            <a:ext cx="2560320" cy="4571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87482"/>
                </a:solidFill>
                <a:latin typeface="Aptos"/>
              </a:defRPr>
            </a:pPr>
            <a:r>
              <a:t>15 consultas de verificação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566160" y="2542032"/>
            <a:ext cx="1143000" cy="0"/>
          </a:xfrm>
          <a:prstGeom prst="line">
            <a:avLst/>
          </a:prstGeom>
          <a:ln w="25400">
            <a:solidFill>
              <a:srgbClr val="27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52360" y="2542032"/>
            <a:ext cx="1143000" cy="0"/>
          </a:xfrm>
          <a:prstGeom prst="line">
            <a:avLst/>
          </a:prstGeom>
          <a:ln w="25400">
            <a:solidFill>
              <a:srgbClr val="27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22960" y="3749039"/>
            <a:ext cx="27432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3749039"/>
            <a:ext cx="64008" cy="1417320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3913631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42235"/>
                </a:solidFill>
                <a:latin typeface="Aptos"/>
              </a:defRPr>
            </a:pPr>
            <a:r>
              <a:t>A6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4315968"/>
            <a:ext cx="2331720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F3945"/>
                </a:solidFill>
                <a:latin typeface="Aptos"/>
              </a:defRPr>
            </a:pPr>
            <a:r>
              <a:t>Script físico executável em banco limpo, com tabelas, restrições e validações.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09160" y="3749039"/>
            <a:ext cx="27432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709160" y="3749039"/>
            <a:ext cx="64008" cy="1417320"/>
          </a:xfrm>
          <a:prstGeom prst="rect">
            <a:avLst/>
          </a:prstGeom>
          <a:solidFill>
            <a:srgbClr val="489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37760" y="3913631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42235"/>
                </a:solidFill>
                <a:latin typeface="Aptos"/>
              </a:defRPr>
            </a:pPr>
            <a:r>
              <a:t>A7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0" y="4315968"/>
            <a:ext cx="2331720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F3945"/>
                </a:solidFill>
                <a:latin typeface="Aptos"/>
              </a:defRPr>
            </a:pPr>
            <a:r>
              <a:t>Carga coerente com dados fictícios para testes do domínio da aplicação.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95360" y="3749039"/>
            <a:ext cx="27432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95360" y="3749039"/>
            <a:ext cx="64008" cy="1417320"/>
          </a:xfrm>
          <a:prstGeom prst="rect">
            <a:avLst/>
          </a:prstGeom>
          <a:solidFill>
            <a:srgbClr val="3E8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23960" y="3913631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42235"/>
                </a:solidFill>
                <a:latin typeface="Aptos"/>
              </a:defRPr>
            </a:pPr>
            <a:r>
              <a:t>A8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23960" y="4315968"/>
            <a:ext cx="2331720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F3945"/>
                </a:solidFill>
                <a:latin typeface="Aptos"/>
              </a:defRPr>
            </a:pPr>
            <a:r>
              <a:t>5 consultas básicas + 5 com joins/agregação + 5 avançadas.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75B91"/>
                </a:solidFill>
                <a:latin typeface="Aptos"/>
              </a:defRPr>
            </a:pPr>
            <a:r>
              <a:t>SQL APLICADO AO DOMÍNIO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2235"/>
                </a:solidFill>
                <a:latin typeface="Aptos"/>
              </a:defRPr>
            </a:pPr>
            <a:r>
              <a:t>A8 — Consultas de verificação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87482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19088"/>
            <a:ext cx="10881360" cy="9144"/>
          </a:xfrm>
          <a:prstGeom prst="rect">
            <a:avLst/>
          </a:prstGeom>
          <a:solidFill>
            <a:srgbClr val="D8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34290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64008" cy="4343400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73351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42235"/>
                </a:solidFill>
                <a:latin typeface="Aptos"/>
              </a:defRPr>
            </a:pPr>
            <a:r>
              <a:t>BÁSICAS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075688"/>
            <a:ext cx="3017520" cy="3630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20" b="0">
                <a:solidFill>
                  <a:srgbClr val="2F3945"/>
                </a:solidFill>
                <a:latin typeface="Aptos"/>
              </a:defRPr>
            </a:pPr>
            <a:r>
              <a:t>Clientes sem telefone</a:t>
            </a:r>
            <a:br/>
            <a:r>
              <a:t>Ocorrências com “atraso”</a:t>
            </a:r>
            <a:br/>
            <a:r>
              <a:t>Encomendas do 1º tri. de 2026</a:t>
            </a:r>
            <a:br/>
            <a:r>
              <a:t>Veículos indisponíveis</a:t>
            </a:r>
            <a:br/>
            <a:r>
              <a:t>Top 10 por valor declarado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508760"/>
            <a:ext cx="34290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508760"/>
            <a:ext cx="64008" cy="4343400"/>
          </a:xfrm>
          <a:prstGeom prst="rect">
            <a:avLst/>
          </a:prstGeom>
          <a:solidFill>
            <a:srgbClr val="489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673351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42235"/>
                </a:solidFill>
                <a:latin typeface="Aptos"/>
              </a:defRPr>
            </a:pPr>
            <a:r>
              <a:t>JOINS / AGREGAÇÃO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075688"/>
            <a:ext cx="3017520" cy="3630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20" b="0">
                <a:solidFill>
                  <a:srgbClr val="2F3945"/>
                </a:solidFill>
                <a:latin typeface="Aptos"/>
              </a:defRPr>
            </a:pPr>
            <a:r>
              <a:t>Expedições por motorista</a:t>
            </a:r>
            <a:br/>
            <a:r>
              <a:t>Clientes com &gt;1 encomenda</a:t>
            </a:r>
            <a:br/>
            <a:r>
              <a:t>Taxa de sucesso por motorista</a:t>
            </a:r>
            <a:br/>
            <a:r>
              <a:t>Contagem por centro de distribuição</a:t>
            </a:r>
            <a:br/>
            <a:r>
              <a:t>Relacionamentos entre entidades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508760"/>
            <a:ext cx="34290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508760"/>
            <a:ext cx="64008" cy="4343400"/>
          </a:xfrm>
          <a:prstGeom prst="rect">
            <a:avLst/>
          </a:prstGeom>
          <a:solidFill>
            <a:srgbClr val="3E8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1673351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42235"/>
                </a:solidFill>
                <a:latin typeface="Aptos"/>
              </a:defRPr>
            </a:pPr>
            <a:r>
              <a:t>AVANÇADAS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075688"/>
            <a:ext cx="3017520" cy="3630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20" b="0">
                <a:solidFill>
                  <a:srgbClr val="2F3945"/>
                </a:solidFill>
                <a:latin typeface="Aptos"/>
              </a:defRPr>
            </a:pPr>
            <a:r>
              <a:t>Último status por encomenda</a:t>
            </a:r>
            <a:br/>
            <a:r>
              <a:t>EXISTS para encomenda extraviada</a:t>
            </a:r>
            <a:br/>
            <a:r>
              <a:t>Pontualidade por rota</a:t>
            </a:r>
            <a:br/>
            <a:r>
              <a:t>CNH e taxa de sucesso</a:t>
            </a:r>
            <a:br/>
            <a:r>
              <a:t>Top 3 clientes por serviços adicionais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016752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687482"/>
                </a:solidFill>
                <a:latin typeface="Aptos"/>
              </a:defRPr>
            </a:pPr>
            <a:r>
              <a:t>Base declarada no trabalho: 48 encomendas • 24 funcionários • 14 motoristas • 16 veículos • 7 rotas • 6 CDs • 254 eventos de histórico • 35 tentativas de entrega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75B91"/>
                </a:solidFill>
                <a:latin typeface="Aptos"/>
              </a:defRPr>
            </a:pPr>
            <a:r>
              <a:t>SÍNTESE DO MODELO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2235"/>
                </a:solidFill>
                <a:latin typeface="Aptos"/>
              </a:defRPr>
            </a:pPr>
            <a:r>
              <a:t>Visão geral do sistema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87482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19088"/>
            <a:ext cx="10881360" cy="9144"/>
          </a:xfrm>
          <a:prstGeom prst="rect">
            <a:avLst/>
          </a:prstGeom>
          <a:solidFill>
            <a:srgbClr val="D8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2331720"/>
            <a:ext cx="1874519" cy="914400"/>
          </a:xfrm>
          <a:prstGeom prst="roundRect">
            <a:avLst/>
          </a:prstGeom>
          <a:solidFill>
            <a:srgbClr val="E8EFF7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331720"/>
            <a:ext cx="1874519" cy="73152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496312"/>
            <a:ext cx="16916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42235"/>
                </a:solidFill>
                <a:latin typeface="Aptos"/>
              </a:defRPr>
            </a:pPr>
            <a:r>
              <a:t>CLIENTE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34639"/>
            <a:ext cx="1691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87482"/>
                </a:solidFill>
                <a:latin typeface="Aptos"/>
              </a:defRPr>
            </a:pPr>
            <a:r>
              <a:t>PF / PJ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2331720"/>
            <a:ext cx="1874519" cy="914400"/>
          </a:xfrm>
          <a:prstGeom prst="roundRect">
            <a:avLst/>
          </a:prstGeom>
          <a:solidFill>
            <a:srgbClr val="EBF5F7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0" y="2331720"/>
            <a:ext cx="1874519" cy="73152"/>
          </a:xfrm>
          <a:prstGeom prst="rect">
            <a:avLst/>
          </a:prstGeom>
          <a:solidFill>
            <a:srgbClr val="3E8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0" y="2496312"/>
            <a:ext cx="16916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42235"/>
                </a:solidFill>
                <a:latin typeface="Aptos"/>
              </a:defRPr>
            </a:pPr>
            <a:r>
              <a:t>ENCOMENDA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834639"/>
            <a:ext cx="1691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87482"/>
                </a:solidFill>
                <a:latin typeface="Aptos"/>
              </a:defRPr>
            </a:pPr>
            <a:r>
              <a:t>rastreio + volumes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83480" y="2331720"/>
            <a:ext cx="1874519" cy="914400"/>
          </a:xfrm>
          <a:prstGeom prst="roundRect">
            <a:avLst/>
          </a:prstGeom>
          <a:solidFill>
            <a:srgbClr val="E8EFF7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83480" y="2331720"/>
            <a:ext cx="1874519" cy="73152"/>
          </a:xfrm>
          <a:prstGeom prst="rect">
            <a:avLst/>
          </a:prstGeom>
          <a:solidFill>
            <a:srgbClr val="489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74920" y="2496312"/>
            <a:ext cx="16916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42235"/>
                </a:solidFill>
                <a:latin typeface="Aptos"/>
              </a:defRPr>
            </a:pPr>
            <a:r>
              <a:t>EXPEDIÇÃO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2834639"/>
            <a:ext cx="1691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87482"/>
                </a:solidFill>
                <a:latin typeface="Aptos"/>
              </a:defRPr>
            </a:pPr>
            <a:r>
              <a:t>carga + motorista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0" y="2331720"/>
            <a:ext cx="1874519" cy="914400"/>
          </a:xfrm>
          <a:prstGeom prst="roundRect">
            <a:avLst/>
          </a:prstGeom>
          <a:solidFill>
            <a:srgbClr val="EBF5F7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23760" y="2331720"/>
            <a:ext cx="1874519" cy="73152"/>
          </a:xfrm>
          <a:prstGeom prst="rect">
            <a:avLst/>
          </a:prstGeom>
          <a:solidFill>
            <a:srgbClr val="C2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0" y="2496312"/>
            <a:ext cx="16916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42235"/>
                </a:solidFill>
                <a:latin typeface="Aptos"/>
              </a:defRPr>
            </a:pPr>
            <a:r>
              <a:t>ROTA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2834639"/>
            <a:ext cx="1691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87482"/>
                </a:solidFill>
                <a:latin typeface="Aptos"/>
              </a:defRPr>
            </a:pPr>
            <a:r>
              <a:t>cidades ordenadas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64040" y="2331720"/>
            <a:ext cx="1874519" cy="914400"/>
          </a:xfrm>
          <a:prstGeom prst="roundRect">
            <a:avLst/>
          </a:prstGeom>
          <a:solidFill>
            <a:srgbClr val="E8EFF7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464040" y="2331720"/>
            <a:ext cx="1874519" cy="73152"/>
          </a:xfrm>
          <a:prstGeom prst="rect">
            <a:avLst/>
          </a:prstGeom>
          <a:solidFill>
            <a:srgbClr val="3E8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55480" y="2496312"/>
            <a:ext cx="16916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42235"/>
                </a:solidFill>
                <a:latin typeface="Aptos"/>
              </a:defRPr>
            </a:pPr>
            <a:r>
              <a:t>ENTREGA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55480" y="2834639"/>
            <a:ext cx="1691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87482"/>
                </a:solidFill>
                <a:latin typeface="Aptos"/>
              </a:defRPr>
            </a:pPr>
            <a:r>
              <a:t>tentativas + ocorrências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377440" y="2788920"/>
            <a:ext cx="365760" cy="0"/>
          </a:xfrm>
          <a:prstGeom prst="line">
            <a:avLst/>
          </a:prstGeom>
          <a:ln w="25400">
            <a:solidFill>
              <a:srgbClr val="27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617720" y="2788920"/>
            <a:ext cx="365760" cy="0"/>
          </a:xfrm>
          <a:prstGeom prst="line">
            <a:avLst/>
          </a:prstGeom>
          <a:ln w="25400">
            <a:solidFill>
              <a:srgbClr val="27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858000" y="2788920"/>
            <a:ext cx="365760" cy="0"/>
          </a:xfrm>
          <a:prstGeom prst="line">
            <a:avLst/>
          </a:prstGeom>
          <a:ln w="25400">
            <a:solidFill>
              <a:srgbClr val="27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098280" y="2788920"/>
            <a:ext cx="365760" cy="0"/>
          </a:xfrm>
          <a:prstGeom prst="line">
            <a:avLst/>
          </a:prstGeom>
          <a:ln w="25400">
            <a:solidFill>
              <a:srgbClr val="27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31520" y="3794760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687482"/>
                </a:solidFill>
                <a:latin typeface="Aptos"/>
              </a:defRPr>
            </a:pPr>
            <a:r>
              <a:t>Cadastro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80360" y="3794760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687482"/>
                </a:solidFill>
                <a:latin typeface="Aptos"/>
              </a:defRPr>
            </a:pPr>
            <a:r>
              <a:t>Rastreamento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0" y="3794760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687482"/>
                </a:solidFill>
                <a:latin typeface="Aptos"/>
              </a:defRPr>
            </a:pPr>
            <a:r>
              <a:t>Operação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60920" y="3794760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687482"/>
                </a:solidFill>
                <a:latin typeface="Aptos"/>
              </a:defRPr>
            </a:pPr>
            <a:r>
              <a:t>Transporte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0" y="3794760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687482"/>
                </a:solidFill>
                <a:latin typeface="Aptos"/>
              </a:defRPr>
            </a:pPr>
            <a:r>
              <a:t>Entrega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43000" y="4800600"/>
            <a:ext cx="9921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417320" y="5010912"/>
            <a:ext cx="9372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142235"/>
                </a:solidFill>
                <a:latin typeface="Aptos"/>
              </a:defRPr>
            </a:pPr>
            <a:r>
              <a:t>O modelo cobre o ciclo descrito no escopo: do cadastro da encomenda até a entrega.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75B91"/>
                </a:solidFill>
                <a:latin typeface="Aptos"/>
              </a:defRPr>
            </a:pPr>
            <a:r>
              <a:t>ENCERRAMENTO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2235"/>
                </a:solidFill>
                <a:latin typeface="Aptos"/>
              </a:defRPr>
            </a:pPr>
            <a:r>
              <a:t>Conclusão e próximos passos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87482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19088"/>
            <a:ext cx="10881360" cy="9144"/>
          </a:xfrm>
          <a:prstGeom prst="rect">
            <a:avLst/>
          </a:prstGeom>
          <a:solidFill>
            <a:srgbClr val="D8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17320"/>
            <a:ext cx="64008" cy="1828800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81912"/>
            <a:ext cx="2971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42235"/>
                </a:solidFill>
                <a:latin typeface="Aptos"/>
              </a:defRPr>
            </a:pPr>
            <a:r>
              <a:t>ETAPA 1 CONCLUÍDA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984248"/>
            <a:ext cx="2971800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F3945"/>
                </a:solidFill>
                <a:latin typeface="Aptos"/>
              </a:defRPr>
            </a:pPr>
            <a:r>
              <a:t>Modelo conceitual, dicionário, modelo relacional e normalização definidos.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41732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07408" y="1417320"/>
            <a:ext cx="64008" cy="1828800"/>
          </a:xfrm>
          <a:prstGeom prst="rect">
            <a:avLst/>
          </a:prstGeom>
          <a:solidFill>
            <a:srgbClr val="489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8" y="1581912"/>
            <a:ext cx="2971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42235"/>
                </a:solidFill>
                <a:latin typeface="Aptos"/>
              </a:defRPr>
            </a:pPr>
            <a:r>
              <a:t>BANCO EXECUTÁVEL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1984248"/>
            <a:ext cx="2971800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F3945"/>
                </a:solidFill>
                <a:latin typeface="Aptos"/>
              </a:defRPr>
            </a:pPr>
            <a:r>
              <a:t>DDL, carga e consultas estruturam a implementação e a validação do modelo.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141732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83296" y="1417320"/>
            <a:ext cx="64008" cy="1828800"/>
          </a:xfrm>
          <a:prstGeom prst="rect">
            <a:avLst/>
          </a:prstGeom>
          <a:solidFill>
            <a:srgbClr val="3E8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1896" y="1581912"/>
            <a:ext cx="2971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42235"/>
                </a:solidFill>
                <a:latin typeface="Aptos"/>
              </a:defRPr>
            </a:pPr>
            <a:r>
              <a:t>VALIDAÇÃO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1984248"/>
            <a:ext cx="2971800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F3945"/>
                </a:solidFill>
                <a:latin typeface="Aptos"/>
              </a:defRPr>
            </a:pPr>
            <a:r>
              <a:t>Dados e consultas permitem verificar diferentes situações do domínio.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8862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42235"/>
                </a:solidFill>
                <a:latin typeface="Aptos"/>
              </a:defRPr>
            </a:pPr>
            <a:r>
              <a:t>Próxima etapa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434840"/>
            <a:ext cx="45720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F3945"/>
                </a:solidFill>
                <a:latin typeface="Aptos"/>
              </a:defRPr>
            </a:pPr>
            <a:r>
              <a:t>• Aplicação</a:t>
            </a:r>
            <a:br/>
            <a:r>
              <a:t>• Transações</a:t>
            </a:r>
            <a:br/>
            <a:r>
              <a:t>• Performance</a:t>
            </a:r>
            <a:br/>
            <a:r>
              <a:t>• Controle de acesso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4069080"/>
            <a:ext cx="5257800" cy="1600200"/>
          </a:xfrm>
          <a:prstGeom prst="round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4407408"/>
            <a:ext cx="4800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275B91"/>
                </a:solidFill>
                <a:latin typeface="Aptos"/>
              </a:defRPr>
            </a:pPr>
            <a:r>
              <a:t>Perguntas?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4983480"/>
            <a:ext cx="4800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687482"/>
                </a:solidFill>
                <a:latin typeface="Aptos"/>
              </a:defRPr>
            </a:pPr>
            <a:r>
              <a:t>Obrigado.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75B91"/>
                </a:solidFill>
                <a:latin typeface="Aptos"/>
              </a:defRPr>
            </a:pPr>
            <a:r>
              <a:t>MODELAGEM CONCEITUAL · DIAGRAMA COMPLETO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2235"/>
                </a:solidFill>
                <a:latin typeface="Aptos"/>
              </a:defRPr>
            </a:pPr>
            <a:r>
              <a:t>A2 — Diagrama completo do 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87482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19088"/>
            <a:ext cx="10881360" cy="9144"/>
          </a:xfrm>
          <a:prstGeom prst="rect">
            <a:avLst/>
          </a:prstGeom>
          <a:solidFill>
            <a:srgbClr val="D8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MER complet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8599" y="1150000"/>
            <a:ext cx="5554497" cy="5200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75B91"/>
                </a:solidFill>
                <a:latin typeface="Aptos"/>
              </a:defRPr>
            </a:pPr>
            <a:r>
              <a:t>TRANSFORMAÇÃO PARA TABELAS · DIAGRAMA COMPLETO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2235"/>
                </a:solidFill>
                <a:latin typeface="Aptos"/>
              </a:defRPr>
            </a:pPr>
            <a:r>
              <a:t>A4 — Diagrama completo do modelo lógico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87482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19088"/>
            <a:ext cx="10881360" cy="9144"/>
          </a:xfrm>
          <a:prstGeom prst="rect">
            <a:avLst/>
          </a:prstGeom>
          <a:solidFill>
            <a:srgbClr val="D8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Modelo logico complet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4135" y="1150000"/>
            <a:ext cx="4283425" cy="520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