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ED2E6"/>
                </a:solidFill>
                <a:latin typeface="Aptos"/>
              </a:defRPr>
            </a:pPr>
            <a:r>
              <a:t>UNIVERSIDADE CATÓLICA DE BRASÍLIA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8696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Sistema de Gestão de</a:t>
            </a:r>
            <a:br/>
            <a:r>
              <a:t>Transportadora,</a:t>
            </a:r>
            <a:br/>
            <a:r>
              <a:t>Rastreamento e Entregas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6E0EC"/>
                </a:solidFill>
                <a:latin typeface="Aptos"/>
              </a:defRPr>
            </a:pPr>
            <a:r>
              <a:t>Laboratório de Banco de Dados  •  Projeto Final  •  Etapa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43400"/>
            <a:ext cx="1828800" cy="54864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Bruno Lucas Caixeta Braga</a:t>
            </a:r>
            <a:br/>
            <a:r>
              <a:t>Carlos Eduardo Estrela de Macedo</a:t>
            </a:r>
            <a:br/>
            <a:r>
              <a:t>Guilherme Alfeu Borges Carvalho Braga</a:t>
            </a:r>
            <a:br/>
            <a:r>
              <a:t>Ryan Gabriel Araújo Almeida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70916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D6E0EC"/>
                </a:solidFill>
                <a:latin typeface="Aptos"/>
              </a:defRPr>
            </a:pPr>
            <a:r>
              <a:t>Professor: Samuel Novais Moura Júnior</a:t>
            </a:r>
            <a:br/>
            <a:r>
              <a:t>Taguatinga • 2026/2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ETAPA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A1 — Escopo e regras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39496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2235"/>
                </a:solidFill>
                <a:latin typeface="Aptos"/>
              </a:defRPr>
            </a:pPr>
            <a:r>
              <a:t>Do cadastro da encomenda até a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99032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F3945"/>
                </a:solidFill>
                <a:latin typeface="Aptos"/>
              </a:defRPr>
            </a:pPr>
            <a:r>
              <a:t>A base de dados foi definida para representar o fluxo operacional de uma transportadora, contemplando cadastro, rastreamento, expedição, transporte e entrega.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98448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64008" cy="141732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39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65376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PF e PJ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298448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1298448"/>
            <a:ext cx="64008" cy="141732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463039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ENCOMENDAS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865376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Volumes e histórico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971800"/>
            <a:ext cx="64008" cy="141732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136392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OPERAÇÃO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38728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Rotas e expedições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9718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971800"/>
            <a:ext cx="64008" cy="1417320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136392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538728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Tentativas e ocorrências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5303520" cy="16459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5079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235"/>
                </a:solidFill>
                <a:latin typeface="Aptos"/>
              </a:defRPr>
            </a:pPr>
            <a:r>
              <a:t>35 regras de negócio (RN01–RN35)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537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F3945"/>
                </a:solidFill>
                <a:latin typeface="Aptos"/>
              </a:defRPr>
            </a:pPr>
            <a:r>
              <a:t>21 tabelas: 18 de domínio + 3 associativas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MODELAGEM CONCEITUAL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A2 — Modelo Entidade-Relacionamento (MER)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Principais estruturas do 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2880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8288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especialização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0632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8288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2278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CLIENTE_PF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30632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3063240"/>
            <a:ext cx="18288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2278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CLIENTE_PJ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234440" y="2651760"/>
            <a:ext cx="411480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45920" y="2651760"/>
            <a:ext cx="1600200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1828800"/>
            <a:ext cx="196596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1828800"/>
            <a:ext cx="196596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199339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FUNCIONÁRIO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233172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especialização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632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063240"/>
            <a:ext cx="182880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32278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MOTORISTA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6324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063240"/>
            <a:ext cx="210312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2783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OPERADOR LOG.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074920" y="2651760"/>
            <a:ext cx="521208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96128" y="2651760"/>
            <a:ext cx="1627632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49640" y="1828800"/>
            <a:ext cx="205740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1828800"/>
            <a:ext cx="205740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19933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33172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entidade forte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3063240"/>
            <a:ext cx="237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49640" y="3063240"/>
            <a:ext cx="237740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3227832"/>
            <a:ext cx="219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2235"/>
                </a:solidFill>
                <a:latin typeface="Aptos"/>
              </a:defRPr>
            </a:pPr>
            <a:r>
              <a:t>VOLUME_ENCOMENDA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56616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entidade fraca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582912" y="2651760"/>
            <a:ext cx="0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4400" y="457200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572000"/>
            <a:ext cx="205740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7365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ROTA — CIDADE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074920"/>
            <a:ext cx="1874519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N:N • ordem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03320" y="45720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03320" y="4572000"/>
            <a:ext cx="224028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59" y="47365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EXPEDIÇÃO — ENCOM.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59" y="5074920"/>
            <a:ext cx="20574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N:N • ordem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45720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75120" y="4572000"/>
            <a:ext cx="224028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59" y="47365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 — SERVIÇO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5074920"/>
            <a:ext cx="20574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N:N • valor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55480" y="4572000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55480" y="4572000"/>
            <a:ext cx="173736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47365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SUPERVISÃO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19" y="5074920"/>
            <a:ext cx="155448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0,N ↔ 0,1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65099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87482"/>
                </a:solidFill>
                <a:latin typeface="Aptos"/>
              </a:defRPr>
            </a:pPr>
            <a:r>
              <a:t>Especializações totais e exclusivas • N:N com atributos próprios • auto-relacionamento de FUNCIONÁRIO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DETALHAMENTO CONCEITUAL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A3 — Dicionário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Exemplo: entidade ENCOMENDA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37744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1051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Atributo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691640"/>
            <a:ext cx="192024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8105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Obrigatório?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91640"/>
            <a:ext cx="283464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1051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Regra / domínio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91640"/>
            <a:ext cx="365760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810512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Observação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94560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3042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F3945"/>
                </a:solidFill>
                <a:latin typeface="Aptos"/>
              </a:defRPr>
            </a:pPr>
            <a:r>
              <a:t>codigo_rastreio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194560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3042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Sim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194560"/>
            <a:ext cx="2834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30428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Alfanumérico + único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194560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04288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Identifica a encomenda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852928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29626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F3945"/>
                </a:solidFill>
                <a:latin typeface="Aptos"/>
              </a:defRPr>
            </a:pPr>
            <a:r>
              <a:t>valor_declarado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852928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962656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Não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852928"/>
            <a:ext cx="2834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9626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Monetário ≥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852928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962656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Valor declarado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511296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3621024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F3945"/>
                </a:solidFill>
                <a:latin typeface="Aptos"/>
              </a:defRPr>
            </a:pPr>
            <a:r>
              <a:t>status_atual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3511296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62102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Derivado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511296"/>
            <a:ext cx="2834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3621024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9 status fechados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3511296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3621024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Calculado pelo último histórico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069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069080"/>
            <a:ext cx="64008" cy="123444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2336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DOMÍNIOS FECHADOS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636008"/>
            <a:ext cx="30175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Status da encomenda e expedição; situação de rota/veículo/ocorrência; tipo de ocorrência; turno do operador.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069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79392" y="4069080"/>
            <a:ext cx="64008" cy="123444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42336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4636008"/>
            <a:ext cx="30175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Os domínios restritos são controlados por CHECK no script físico.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18704" y="4069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18704" y="4069080"/>
            <a:ext cx="64008" cy="123444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47304" y="42336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CONSISTÊNCIA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47304" y="4636008"/>
            <a:ext cx="30175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O dicionário define domínio, obrigatoriedade e regra por atributo.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TRANSFORMAÇÃO PARA TABELAS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A4 — Modelo relacional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21 relações no modelo físico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10312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0312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9202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+ especialização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8288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828800"/>
            <a:ext cx="233172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993392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CLIENTE_PF / PJ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31720"/>
            <a:ext cx="21488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FK para CLIENTE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828800"/>
            <a:ext cx="219456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19456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993392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FUNCIONÁRIO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331720"/>
            <a:ext cx="2011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+ especialização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256032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93392"/>
            <a:ext cx="23774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MOTORISTA / OPERADOR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31720"/>
            <a:ext cx="23774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FK para FUNCIONÁRIO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2240280"/>
            <a:ext cx="22860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2240280"/>
            <a:ext cx="27432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88720" y="3337560"/>
            <a:ext cx="2377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3337560"/>
            <a:ext cx="237744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3502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ROTA_CIDADE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8404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 + ordem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3375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0" y="3337560"/>
            <a:ext cx="256032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59" y="3502152"/>
            <a:ext cx="23774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EXPEDICAO_ENCOMENDA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59" y="3840480"/>
            <a:ext cx="23774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 + ordem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33756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3337560"/>
            <a:ext cx="246888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35021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ENCOMENDA_SERVICO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404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 + valor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333756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3337560"/>
            <a:ext cx="164592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50215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VOLUME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84048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4348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N:N → tabelas associativas com chaves compostas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40740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status_atual → não é coluna: será uma VIEW baseada no último histórico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166360"/>
            <a:ext cx="10881360" cy="685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358384"/>
            <a:ext cx="10378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F3945"/>
                </a:solidFill>
                <a:latin typeface="Aptos"/>
              </a:defRPr>
            </a:pPr>
            <a:r>
              <a:t>Especialização em 3 tabelas • chaves substitutas na maioria das relações • chaves naturais compostas em associativas e VOLUME_ENCOMENDA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QUALIDADE ESTRUTURAL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A5 — Normalização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2235"/>
                </a:solidFill>
                <a:latin typeface="Aptos"/>
              </a:defRPr>
            </a:pPr>
            <a:r>
              <a:t>Todas as 21 relações atendem 1FN, 2FN, 3FN e BCNF.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1FN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Atributos atômicos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4414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8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2FN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Dependência da chave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4414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8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3FN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Sem dependência transitiva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4414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8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BCNF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Determinantes adequados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03320"/>
            <a:ext cx="64008" cy="141732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6791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REDUNDÂNCIA EVITADA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70248"/>
            <a:ext cx="30175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Cidade não é repetida em ENDEREÇO ou CENTRO_DISTRIBUICAO; status_atual não vira coluna.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3703320"/>
            <a:ext cx="64008" cy="141732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86791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VALORES PRESERVADOS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270248"/>
            <a:ext cx="30175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valor_contratado permanece separado de valor_referencia.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3703320"/>
            <a:ext cx="64008" cy="1417320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386791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REDUNDÂNCIA CONTROLADA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4270248"/>
            <a:ext cx="30175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tipo_cliente e tipo_funcionario dependem apenas da própria chave; CHECK + trigger/validação reduzem divergências.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ETAPA 1 • ENTREGA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A6 → A8 — Implementação e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Fluxo dos artefatos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743200" cy="10515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27432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A6 — 01_ddl.sql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56032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Banco físico • MySQL 8.0+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011680"/>
            <a:ext cx="2743200" cy="1051560"/>
          </a:xfrm>
          <a:prstGeom prst="roundRect">
            <a:avLst/>
          </a:prstGeom>
          <a:solidFill>
            <a:srgbClr val="EBF5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2011680"/>
            <a:ext cx="274320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A7 — 02_carga.sql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14600"/>
            <a:ext cx="256032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Dados fictícios e casos de teste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011680"/>
            <a:ext cx="2743200" cy="10515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0" y="2011680"/>
            <a:ext cx="274320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A8 — 03_consultas.sql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14600"/>
            <a:ext cx="256032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15 consultas de verificação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66160" y="2542032"/>
            <a:ext cx="114300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52360" y="2542032"/>
            <a:ext cx="114300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3749039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749039"/>
            <a:ext cx="64008" cy="141732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913631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1596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Script físico executável em banco limpo, com tabelas, restrições e validações.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3749039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3749039"/>
            <a:ext cx="64008" cy="141732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913631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31596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Carga coerente com dados fictícios para testes do domínio da aplicação.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749039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3749039"/>
            <a:ext cx="64008" cy="141732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913631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31596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5 consultas básicas + 5 com joins/agregação + 5 avançadas.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SQL APLICADO AO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A8 — Consultas de verificação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434340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733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BÁSICAS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301752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2F3945"/>
                </a:solidFill>
                <a:latin typeface="Aptos"/>
              </a:defRPr>
            </a:pPr>
            <a:r>
              <a:t>Clientes sem telefone</a:t>
            </a:r>
            <a:br/>
            <a:r>
              <a:t>Ocorrências com “atraso”</a:t>
            </a:r>
            <a:br/>
            <a:r>
              <a:t>Encomendas do 1º tri. de 2026</a:t>
            </a:r>
            <a:br/>
            <a:r>
              <a:t>Veículos indisponíveis</a:t>
            </a:r>
            <a:br/>
            <a:r>
              <a:t>Top 10 por valor declarado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64008" cy="434340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733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JOINS / AGREGAÇÃO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2F3945"/>
                </a:solidFill>
                <a:latin typeface="Aptos"/>
              </a:defRPr>
            </a:pPr>
            <a:r>
              <a:t>Expedições por motorista</a:t>
            </a:r>
            <a:br/>
            <a:r>
              <a:t>Clientes com &gt;1 encomenda</a:t>
            </a:r>
            <a:br/>
            <a:r>
              <a:t>Taxa de sucesso por motorista</a:t>
            </a:r>
            <a:br/>
            <a:r>
              <a:t>Contagem por centro de distribuição</a:t>
            </a:r>
            <a:br/>
            <a:r>
              <a:t>Relacionamentos entre entidades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64008" cy="434340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733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AVANÇADAS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75688"/>
            <a:ext cx="301752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2F3945"/>
                </a:solidFill>
                <a:latin typeface="Aptos"/>
              </a:defRPr>
            </a:pPr>
            <a:r>
              <a:t>Último status por encomenda</a:t>
            </a:r>
            <a:br/>
            <a:r>
              <a:t>EXISTS para encomenda extraviada</a:t>
            </a:r>
            <a:br/>
            <a:r>
              <a:t>Pontualidade por rota</a:t>
            </a:r>
            <a:br/>
            <a:r>
              <a:t>CNH e taxa de sucesso</a:t>
            </a:r>
            <a:br/>
            <a:r>
              <a:t>Top 3 clientes por serviços adicionais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167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Base declarada no trabalho: 48 encomendas • 24 funcionários • 14 motoristas • 16 veículos • 7 rotas • 6 CDs • 254 eventos de histórico • 35 tentativas de entrega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SÍNTESE DO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Visão geral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874519" cy="91440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1874519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PF / PJ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31720"/>
            <a:ext cx="1874519" cy="914400"/>
          </a:xfrm>
          <a:prstGeom prst="roundRect">
            <a:avLst/>
          </a:prstGeom>
          <a:solidFill>
            <a:srgbClr val="EBF5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331720"/>
            <a:ext cx="1874519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rastreio + volumes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331720"/>
            <a:ext cx="1874519" cy="91440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331720"/>
            <a:ext cx="1874519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EXPEDIÇÃO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carga + motorista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331720"/>
            <a:ext cx="1874519" cy="914400"/>
          </a:xfrm>
          <a:prstGeom prst="roundRect">
            <a:avLst/>
          </a:prstGeom>
          <a:solidFill>
            <a:srgbClr val="EBF5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331720"/>
            <a:ext cx="1874519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ROTA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cidades ordenadas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331720"/>
            <a:ext cx="1874519" cy="91440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64040" y="2331720"/>
            <a:ext cx="1874519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tentativas + ocorrências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1772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9828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Cadastro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Rastreamento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Operação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Transporte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800600"/>
            <a:ext cx="9921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5010912"/>
            <a:ext cx="9372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42235"/>
                </a:solidFill>
                <a:latin typeface="Aptos"/>
              </a:defRPr>
            </a:pPr>
            <a:r>
              <a:t>O modelo cobre o ciclo descrito no escopo: do cadastro da encomenda até a entrega.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Conclusão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ETAPA 1 CONCLUÍDA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29718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Modelo conceitual, dicionário, modelo relacional e normalização definidos.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64008" cy="182880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819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BANCO EXECUTÁVEL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84248"/>
            <a:ext cx="29718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DDL, carga e consultas estruturam a implementação e a validação do modelo.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64008" cy="182880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819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984248"/>
            <a:ext cx="29718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Dados e consultas permitem verificar diferentes situações do domínio.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2235"/>
                </a:solidFill>
                <a:latin typeface="Aptos"/>
              </a:defRPr>
            </a:pPr>
            <a:r>
              <a:t>Próxima etapa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F3945"/>
                </a:solidFill>
                <a:latin typeface="Aptos"/>
              </a:defRPr>
            </a:pPr>
            <a:r>
              <a:t>• Aplicação</a:t>
            </a:r>
            <a:br/>
            <a:r>
              <a:t>• Transações</a:t>
            </a:r>
            <a:br/>
            <a:r>
              <a:t>• Performance</a:t>
            </a:r>
            <a:br/>
            <a:r>
              <a:t>• Controle de acesso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069080"/>
            <a:ext cx="5257800" cy="16002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07408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75B91"/>
                </a:solidFill>
                <a:latin typeface="Aptos"/>
              </a:defRPr>
            </a:pPr>
            <a:r>
              <a:t>Perguntas?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98348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87482"/>
                </a:solidFill>
                <a:latin typeface="Aptos"/>
              </a:defRPr>
            </a:pPr>
            <a: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